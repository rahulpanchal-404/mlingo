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Inter" panose="020B0604020202020204" charset="0"/>
      <p:regular r:id="rId14"/>
    </p:embeddedFont>
    <p:embeddedFont>
      <p:font typeface="Inter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5296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44711"/>
            <a:ext cx="3197740" cy="278110"/>
          </a:xfrm>
          <a:prstGeom prst="roundRect">
            <a:avLst>
              <a:gd name="adj" fmla="val 22123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1307" y="599579"/>
            <a:ext cx="3587660" cy="16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0" spc="-29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MINOR PROJECT · NIE MYSURU · CSE(AIML)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893762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kern="0" spc="-10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MLingo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61475" y="1731963"/>
            <a:ext cx="10868745" cy="789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950" b="1" kern="0" spc="-14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Machine Learning, Frame by Frame.</a:t>
            </a:r>
            <a:endParaRPr lang="en-US" sz="4950" dirty="0"/>
          </a:p>
        </p:txBody>
      </p:sp>
      <p:sp>
        <p:nvSpPr>
          <p:cNvPr id="6" name="Text 4"/>
          <p:cNvSpPr/>
          <p:nvPr/>
        </p:nvSpPr>
        <p:spPr>
          <a:xfrm>
            <a:off x="661475" y="2787551"/>
            <a:ext cx="10868745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Interactive Learning Platform for Understanding Machine Learning Through Training, Visualization, Experimentation and Guided Projects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61475" y="3609677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61475" y="4057650"/>
            <a:ext cx="6568811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5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TEAM MEMBERS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1475" y="4521002"/>
            <a:ext cx="6568811" cy="1632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1000"/>
              </a:lnSpc>
              <a:spcAft>
                <a:spcPts val="1250"/>
              </a:spcAft>
              <a:buNone/>
            </a:pPr>
            <a:r>
              <a:rPr lang="en-US" sz="1400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Rahul Panchal — 4NI24CI082</a:t>
            </a:r>
            <a:endParaRPr lang="en-US" sz="1400" dirty="0"/>
          </a:p>
          <a:p>
            <a:pPr marL="0" indent="0" algn="l">
              <a:lnSpc>
                <a:spcPct val="131000"/>
              </a:lnSpc>
              <a:spcAft>
                <a:spcPts val="1250"/>
              </a:spcAft>
              <a:buNone/>
            </a:pPr>
            <a:r>
              <a:rPr lang="en-US" sz="1400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Pratham Rampurmath — 4NI24CI078</a:t>
            </a:r>
            <a:endParaRPr lang="en-US" sz="1400" dirty="0"/>
          </a:p>
          <a:p>
            <a:pPr marL="0" indent="0" algn="l">
              <a:lnSpc>
                <a:spcPct val="131000"/>
              </a:lnSpc>
              <a:spcAft>
                <a:spcPts val="1250"/>
              </a:spcAft>
              <a:buNone/>
            </a:pPr>
            <a:r>
              <a:rPr lang="en-US" sz="1400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Shashwat Prasad — 4NI24CI098</a:t>
            </a:r>
            <a:endParaRPr lang="en-US" sz="1400" dirty="0"/>
          </a:p>
          <a:p>
            <a:pPr marL="0" indent="0" algn="l">
              <a:lnSpc>
                <a:spcPct val="131000"/>
              </a:lnSpc>
              <a:buNone/>
            </a:pPr>
            <a:r>
              <a:rPr lang="en-US" sz="1400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Nishit Prakash — 4NI24CI072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83308" y="4057650"/>
            <a:ext cx="3853163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5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GUIDE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683308" y="4521002"/>
            <a:ext cx="4462748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Sahana KJ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83308" y="4986734"/>
            <a:ext cx="3853163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5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CO-GUIDE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683308" y="5450086"/>
            <a:ext cx="4462748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Dr. Mayura Tapkire</a:t>
            </a:r>
            <a:endParaRPr lang="en-US" sz="1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550E997-BE4C-229F-41F3-E65547307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8833" y="6535758"/>
            <a:ext cx="1463167" cy="2895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59197"/>
            <a:ext cx="1261535" cy="269180"/>
          </a:xfrm>
          <a:prstGeom prst="roundRect">
            <a:avLst>
              <a:gd name="adj" fmla="val 22119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767735" y="612279"/>
            <a:ext cx="1658598" cy="163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894755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b="1" kern="0" spc="-10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Is Machine Learning Hard to Learn?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661475" y="2246809"/>
            <a:ext cx="6913390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5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Traditional ML Learning</a:t>
            </a:r>
            <a:endParaRPr lang="en-US" sz="17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710557"/>
            <a:ext cx="6913390" cy="2594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47417" y="4675046"/>
            <a:ext cx="1042740" cy="200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kern="0" spc="-3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Final Result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933278" y="4675046"/>
            <a:ext cx="1042740" cy="200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kern="0" spc="-3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Train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3626282" y="4675046"/>
            <a:ext cx="1042740" cy="200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kern="0" spc="-3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Code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2319285" y="4675046"/>
            <a:ext cx="1042740" cy="200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kern="0" spc="-3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Formula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83721" y="4675046"/>
            <a:ext cx="1042740" cy="200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kern="0" spc="-3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Theory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61475" y="5491659"/>
            <a:ext cx="7522974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learner sees the beginning and the end — but rarely the training process itself.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013400" y="1863725"/>
            <a:ext cx="3523070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5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MLingo's Approach</a:t>
            </a:r>
            <a:endParaRPr lang="en-US" sz="17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13400" y="2327473"/>
            <a:ext cx="3523070" cy="111015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285848" y="2523728"/>
            <a:ext cx="3054373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5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Traditional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8285848" y="2966740"/>
            <a:ext cx="3054373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 → Wait → Final Model</a:t>
            </a:r>
            <a:endParaRPr lang="en-US" sz="135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13400" y="3603724"/>
            <a:ext cx="3523070" cy="13847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85848" y="3799979"/>
            <a:ext cx="3054373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5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MLingo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285848" y="4242991"/>
            <a:ext cx="305437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 → Scrub → Inspect → Understand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8013400" y="5175349"/>
            <a:ext cx="3523070" cy="936625"/>
          </a:xfrm>
          <a:prstGeom prst="roundRect">
            <a:avLst>
              <a:gd name="adj" fmla="val 7946"/>
            </a:avLst>
          </a:prstGeom>
          <a:solidFill>
            <a:srgbClr val="DADBF1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0601" y="5427464"/>
            <a:ext cx="221451" cy="17720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589252" y="5369024"/>
            <a:ext cx="2770019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b="1" kern="0" spc="-2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MLingo makes the training process visible.</a:t>
            </a:r>
            <a:endParaRPr lang="en-US" sz="13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5B7F53F-4356-738B-3589-6FC313A042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28833" y="6535758"/>
            <a:ext cx="1463167" cy="2895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49982"/>
            <a:ext cx="1707909" cy="287139"/>
          </a:xfrm>
          <a:prstGeom prst="roundRect">
            <a:avLst>
              <a:gd name="adj" fmla="val 22118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706636"/>
            <a:ext cx="209068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LITERATURE SURVEY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01272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Existing Approaches &amp; the Design Opportunity</a:t>
            </a:r>
            <a:endParaRPr lang="en-US" sz="3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886843"/>
          <a:ext cx="10868745" cy="3037406"/>
        </p:xfrm>
        <a:graphic>
          <a:graphicData uri="http://schemas.openxmlformats.org/drawingml/2006/table">
            <a:tbl>
              <a:tblPr/>
              <a:tblGrid>
                <a:gridCol w="30432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27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127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50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Approach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Strength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Limitation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2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Video Courses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Structured explanations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Passive learning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2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Jupyter / Notebooks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Hands-on coding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Training inspected after execution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2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Interactive ML Demos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Visual intuition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Isolated concepts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75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MLingo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Timeline + inspection + experimentation + projects + AI Tutor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61475" y="5149652"/>
            <a:ext cx="10868745" cy="1058366"/>
          </a:xfrm>
          <a:prstGeom prst="roundRect">
            <a:avLst>
              <a:gd name="adj" fmla="val 7501"/>
            </a:avLst>
          </a:prstGeom>
          <a:solidFill>
            <a:srgbClr val="B6D6F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5417344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75723" y="5385891"/>
            <a:ext cx="10065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kern="0" spc="-3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Design Opportunity:</a:t>
            </a:r>
            <a:r>
              <a:rPr lang="en-US" sz="1450" kern="0" spc="-3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Combine training visualization, state inspection, experimentation, guided workflows, and contextual learning in one environment.</a:t>
            </a:r>
            <a:endParaRPr lang="en-US" sz="14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F6DB6C1-7EE5-1CCB-6277-BCECFA1A4D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8833" y="6535758"/>
            <a:ext cx="1463167" cy="2895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7149"/>
            <a:ext cx="1197441" cy="188516"/>
          </a:xfrm>
          <a:prstGeom prst="roundRect">
            <a:avLst>
              <a:gd name="adj" fmla="val 22109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735887" y="564356"/>
            <a:ext cx="1658201" cy="114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kern="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STATEMENT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748209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kern="0" spc="-7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Hidden Training Process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47505" y="1349474"/>
            <a:ext cx="112923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kern="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"Students can learn the formulas and code of machine learning algorithms, yet still struggle to understand what actually happens during training."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61475" y="1257895"/>
            <a:ext cx="12700" cy="347464"/>
          </a:xfrm>
          <a:prstGeom prst="roundRect">
            <a:avLst>
              <a:gd name="adj" fmla="val 49999"/>
            </a:avLst>
          </a:prstGeom>
          <a:solidFill>
            <a:srgbClr val="4950B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9830" y="1696938"/>
            <a:ext cx="8452035" cy="386834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341606" y="4646670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Update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341783" y="4646670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Loss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4352827" y="4646670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Gradients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2320397" y="4646670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Parameters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661475" y="5656858"/>
            <a:ext cx="3568611" cy="673993"/>
          </a:xfrm>
          <a:prstGeom prst="roundRect">
            <a:avLst>
              <a:gd name="adj" fmla="val 773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1845" y="5787231"/>
            <a:ext cx="3307870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3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Training Dynamics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91845" y="6029821"/>
            <a:ext cx="330787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kern="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Difficult to visualize step-by-step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311443" y="5656858"/>
            <a:ext cx="3568710" cy="673993"/>
          </a:xfrm>
          <a:prstGeom prst="roundRect">
            <a:avLst>
              <a:gd name="adj" fmla="val 773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441813" y="5787231"/>
            <a:ext cx="3307970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3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Hyperparameter Effects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441813" y="6029821"/>
            <a:ext cx="330797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kern="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Difficult to reason about intuitively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961510" y="5656858"/>
            <a:ext cx="3568611" cy="673993"/>
          </a:xfrm>
          <a:prstGeom prst="roundRect">
            <a:avLst>
              <a:gd name="adj" fmla="val 773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91880" y="5787231"/>
            <a:ext cx="3307870" cy="200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3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Theory </a:t>
            </a:r>
            <a:r>
              <a:rPr lang="en-US" sz="1200" b="1" kern="0" spc="-37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↔</a:t>
            </a:r>
            <a:r>
              <a:rPr lang="en-US" sz="1200" b="1" kern="0" spc="-3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Code </a:t>
            </a:r>
            <a:r>
              <a:rPr lang="en-US" sz="1200" b="1" kern="0" spc="-37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↔</a:t>
            </a:r>
            <a:r>
              <a:rPr lang="en-US" sz="1200" b="1" kern="0" spc="-3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Behavior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091880" y="6036171"/>
            <a:ext cx="330787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kern="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Difficult to connect all three</a:t>
            </a:r>
            <a:endParaRPr lang="en-US" sz="9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F37DFA1-2716-0F95-2645-284E29B58D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8833" y="6535758"/>
            <a:ext cx="1463167" cy="2895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36203"/>
            <a:ext cx="1121045" cy="287139"/>
          </a:xfrm>
          <a:prstGeom prst="roundRect">
            <a:avLst>
              <a:gd name="adj" fmla="val 22118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792857"/>
            <a:ext cx="150382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09894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MLingo Sets Out to Do</a:t>
            </a:r>
            <a:endParaRPr lang="en-US" sz="3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973064"/>
            <a:ext cx="378014" cy="3780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2587327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Visualize Training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61475" y="2996009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Observe model training frame by frame.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1973064"/>
            <a:ext cx="378014" cy="37802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63135" y="2587327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Inspect Model State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4363135" y="2996009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Expose weights, gradients, predictions, and loss.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4794" y="1973064"/>
            <a:ext cx="378014" cy="37802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64794" y="2587327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Experiment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8064794" y="2996009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 parameters and compare training behavior.</a:t>
            </a:r>
            <a:endParaRPr lang="en-US" sz="14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978870"/>
            <a:ext cx="378014" cy="37802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61475" y="4593134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Connect Theory to Practice</a:t>
            </a:r>
            <a:endParaRPr lang="en-US" sz="1850" dirty="0"/>
          </a:p>
        </p:txBody>
      </p:sp>
      <p:sp>
        <p:nvSpPr>
          <p:cNvPr id="16" name="Text 10"/>
          <p:cNvSpPr/>
          <p:nvPr/>
        </p:nvSpPr>
        <p:spPr>
          <a:xfrm>
            <a:off x="661475" y="5001816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 visualization with mathematics and code.</a:t>
            </a:r>
            <a:endParaRPr lang="en-US" sz="14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63135" y="3978870"/>
            <a:ext cx="378014" cy="37802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363135" y="4593134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Build Real ML Projects</a:t>
            </a:r>
            <a:endParaRPr lang="en-US" sz="1850" dirty="0"/>
          </a:p>
        </p:txBody>
      </p:sp>
      <p:sp>
        <p:nvSpPr>
          <p:cNvPr id="19" name="Text 12"/>
          <p:cNvSpPr/>
          <p:nvPr/>
        </p:nvSpPr>
        <p:spPr>
          <a:xfrm>
            <a:off x="4363135" y="5001816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 learners through complete data-science workflows.</a:t>
            </a:r>
            <a:endParaRPr lang="en-US" sz="1450" dirty="0"/>
          </a:p>
        </p:txBody>
      </p:sp>
      <p:sp>
        <p:nvSpPr>
          <p:cNvPr id="20" name="Text 13"/>
          <p:cNvSpPr/>
          <p:nvPr/>
        </p:nvSpPr>
        <p:spPr>
          <a:xfrm>
            <a:off x="661475" y="5819279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i="1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understanding algorithms → to building with them.</a:t>
            </a:r>
            <a:endParaRPr lang="en-US" sz="14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FCEA28B-871F-A965-4FD0-8145E61D65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28833" y="6535758"/>
            <a:ext cx="1463167" cy="2895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663062" cy="143470"/>
          </a:xfrm>
          <a:prstGeom prst="roundRect">
            <a:avLst>
              <a:gd name="adj" fmla="val 22134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718127" y="548084"/>
            <a:ext cx="1159342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SOLUTION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8212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Introducing MLingo</a:t>
            </a:r>
            <a:endParaRPr lang="en-US" sz="1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101328"/>
            <a:ext cx="5319083" cy="5319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487" y="2841228"/>
            <a:ext cx="592866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MLingo transforms ML from something you </a:t>
            </a:r>
            <a:r>
              <a:rPr lang="en-US" sz="700" b="1" kern="0" spc="-1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read</a:t>
            </a: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into something you can </a:t>
            </a:r>
            <a:r>
              <a:rPr lang="en-US" sz="700" b="1" kern="0" spc="-1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observe and interact with</a:t>
            </a: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6217487" y="3007717"/>
            <a:ext cx="2635879" cy="522585"/>
          </a:xfrm>
          <a:prstGeom prst="roundRect">
            <a:avLst>
              <a:gd name="adj" fmla="val 7596"/>
            </a:avLst>
          </a:prstGeom>
          <a:solidFill>
            <a:srgbClr val="FFFFFF"/>
          </a:solidFill>
          <a:ln w="12700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24640" y="3114873"/>
            <a:ext cx="2421571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Training Timeline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324640" y="3309739"/>
            <a:ext cx="242157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Scrub through every training step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8900592" y="3007717"/>
            <a:ext cx="2635978" cy="522585"/>
          </a:xfrm>
          <a:prstGeom prst="roundRect">
            <a:avLst>
              <a:gd name="adj" fmla="val 7596"/>
            </a:avLst>
          </a:prstGeom>
          <a:solidFill>
            <a:srgbClr val="FFFFFF"/>
          </a:solidFill>
          <a:ln w="12700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007746" y="3114873"/>
            <a:ext cx="2421671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 X-Ray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9007746" y="3309739"/>
            <a:ext cx="242167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Inspect internal model state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6217487" y="3577530"/>
            <a:ext cx="2635879" cy="522585"/>
          </a:xfrm>
          <a:prstGeom prst="roundRect">
            <a:avLst>
              <a:gd name="adj" fmla="val 7596"/>
            </a:avLst>
          </a:prstGeom>
          <a:solidFill>
            <a:srgbClr val="FFFFFF"/>
          </a:solidFill>
          <a:ln w="12700">
            <a:solidFill>
              <a:srgbClr val="C0C1D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24640" y="3684687"/>
            <a:ext cx="2421571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Experiment Explorer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324640" y="3879552"/>
            <a:ext cx="242157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runs and parameters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8900592" y="3577530"/>
            <a:ext cx="2635978" cy="522585"/>
          </a:xfrm>
          <a:prstGeom prst="roundRect">
            <a:avLst>
              <a:gd name="adj" fmla="val 7596"/>
            </a:avLst>
          </a:prstGeom>
          <a:solidFill>
            <a:srgbClr val="FFFFFF"/>
          </a:solidFill>
          <a:ln w="12700">
            <a:solidFill>
              <a:srgbClr val="C0C1D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007746" y="3684687"/>
            <a:ext cx="2421671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Studio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007746" y="3879552"/>
            <a:ext cx="242167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complete ML projects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6217487" y="4147344"/>
            <a:ext cx="5319083" cy="522585"/>
          </a:xfrm>
          <a:prstGeom prst="roundRect">
            <a:avLst>
              <a:gd name="adj" fmla="val 7596"/>
            </a:avLst>
          </a:prstGeom>
          <a:solidFill>
            <a:srgbClr val="FFFFFF"/>
          </a:solidFill>
          <a:ln w="12700">
            <a:solidFill>
              <a:srgbClr val="C0C1D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24640" y="4254500"/>
            <a:ext cx="5104776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Tutor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324640" y="4449366"/>
            <a:ext cx="5104776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Context-aware learning support</a:t>
            </a:r>
            <a:endParaRPr lang="en-US" sz="7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5A0B15E-7BA6-9BF3-92B6-7B301A2031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8833" y="6535758"/>
            <a:ext cx="1463167" cy="2895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726083"/>
            <a:ext cx="1169264" cy="215305"/>
          </a:xfrm>
          <a:prstGeom prst="roundRect">
            <a:avLst>
              <a:gd name="adj" fmla="val 22123"/>
            </a:avLst>
          </a:prstGeom>
          <a:solidFill>
            <a:srgbClr val="DADBF1"/>
          </a:solidFill>
          <a:ln/>
        </p:spPr>
      </p:sp>
      <p:sp>
        <p:nvSpPr>
          <p:cNvPr id="4" name="Text 1"/>
          <p:cNvSpPr/>
          <p:nvPr/>
        </p:nvSpPr>
        <p:spPr>
          <a:xfrm>
            <a:off x="5318389" y="768548"/>
            <a:ext cx="160879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INNOVATION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233360" y="983853"/>
            <a:ext cx="6296860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kern="0" spc="-8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Core Idea — Training as a Timeline</a:t>
            </a:r>
            <a:endParaRPr lang="en-US" sz="2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3360" y="1586309"/>
            <a:ext cx="6296860" cy="236289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321134" y="3375589"/>
            <a:ext cx="949741" cy="182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kern="0" spc="-3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STEP 40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9124201" y="3375589"/>
            <a:ext cx="949741" cy="182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kern="0" spc="-3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STEP 30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7933773" y="3375589"/>
            <a:ext cx="949740" cy="182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kern="0" spc="-3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STEP 20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6743345" y="3375589"/>
            <a:ext cx="949740" cy="182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kern="0" spc="-3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STEP 10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5526897" y="3375589"/>
            <a:ext cx="949740" cy="182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kern="0" spc="-3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STEP 0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5233360" y="4068762"/>
            <a:ext cx="629686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frame represents a </a:t>
            </a:r>
            <a:r>
              <a:rPr lang="en-US" sz="110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 model state</a:t>
            </a: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weights, gradients, loss, and predictions at that exact training step.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233360" y="4585196"/>
            <a:ext cx="6296860" cy="1546622"/>
          </a:xfrm>
          <a:prstGeom prst="roundRect">
            <a:avLst>
              <a:gd name="adj" fmla="val 385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239710" y="4591546"/>
            <a:ext cx="3142080" cy="766961"/>
          </a:xfrm>
          <a:custGeom>
            <a:avLst/>
            <a:gdLst/>
            <a:ahLst/>
            <a:cxnLst/>
            <a:rect l="l" t="t" r="r" b="b"/>
            <a:pathLst>
              <a:path w="3142080" h="766961">
                <a:moveTo>
                  <a:pt x="49617" y="0"/>
                </a:moveTo>
                <a:lnTo>
                  <a:pt x="3142080" y="0"/>
                </a:lnTo>
                <a:lnTo>
                  <a:pt x="3142080" y="766961"/>
                </a:lnTo>
                <a:lnTo>
                  <a:pt x="0" y="766961"/>
                </a:lnTo>
                <a:lnTo>
                  <a:pt x="0" y="49619"/>
                </a:lnTo>
                <a:arcTo wR="49617" hR="49619" stAng="10800000" swAng="5400000"/>
                <a:close/>
              </a:path>
            </a:pathLst>
          </a:custGeom>
          <a:solidFill>
            <a:srgbClr val="DADBF1"/>
          </a:solidFill>
          <a:ln/>
        </p:spPr>
      </p:sp>
      <p:sp>
        <p:nvSpPr>
          <p:cNvPr id="15" name="Text 11"/>
          <p:cNvSpPr/>
          <p:nvPr/>
        </p:nvSpPr>
        <p:spPr>
          <a:xfrm>
            <a:off x="5381391" y="4733230"/>
            <a:ext cx="28587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Run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381391" y="5018385"/>
            <a:ext cx="285871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training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381790" y="4591546"/>
            <a:ext cx="3142080" cy="766961"/>
          </a:xfrm>
          <a:custGeom>
            <a:avLst/>
            <a:gdLst/>
            <a:ahLst/>
            <a:cxnLst/>
            <a:rect l="l" t="t" r="r" b="b"/>
            <a:pathLst>
              <a:path w="3142080" h="766961">
                <a:moveTo>
                  <a:pt x="0" y="0"/>
                </a:moveTo>
                <a:lnTo>
                  <a:pt x="3092463" y="0"/>
                </a:lnTo>
                <a:arcTo wR="49617" hR="49619" stAng="16200000" swAng="5400000"/>
                <a:lnTo>
                  <a:pt x="3142080" y="766961"/>
                </a:lnTo>
                <a:lnTo>
                  <a:pt x="0" y="766961"/>
                </a:lnTo>
                <a:lnTo>
                  <a:pt x="0" y="0"/>
                </a:lnTo>
                <a:close/>
              </a:path>
            </a:pathLst>
          </a:custGeom>
          <a:solidFill>
            <a:srgbClr val="DADBF1"/>
          </a:solidFill>
          <a:ln/>
        </p:spPr>
      </p:sp>
      <p:sp>
        <p:nvSpPr>
          <p:cNvPr id="18" name="Shape 14"/>
          <p:cNvSpPr/>
          <p:nvPr/>
        </p:nvSpPr>
        <p:spPr>
          <a:xfrm>
            <a:off x="8381790" y="4591546"/>
            <a:ext cx="19050" cy="766961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19" name="Text 15"/>
          <p:cNvSpPr/>
          <p:nvPr/>
        </p:nvSpPr>
        <p:spPr>
          <a:xfrm>
            <a:off x="8523471" y="4733230"/>
            <a:ext cx="28587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Scrub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8523471" y="5018385"/>
            <a:ext cx="285871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 through steps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239710" y="5358507"/>
            <a:ext cx="6284160" cy="766961"/>
          </a:xfrm>
          <a:custGeom>
            <a:avLst/>
            <a:gdLst/>
            <a:ahLst/>
            <a:cxnLst/>
            <a:rect l="l" t="t" r="r" b="b"/>
            <a:pathLst>
              <a:path w="6284160" h="766961">
                <a:moveTo>
                  <a:pt x="0" y="0"/>
                </a:moveTo>
                <a:lnTo>
                  <a:pt x="6284160" y="0"/>
                </a:lnTo>
                <a:lnTo>
                  <a:pt x="6284160" y="717342"/>
                </a:lnTo>
                <a:arcTo wR="49617" hR="49619" stAng="0" swAng="5400000"/>
                <a:lnTo>
                  <a:pt x="49617" y="766961"/>
                </a:lnTo>
                <a:arcTo wR="49617" hR="49619" stAng="5400000" swAng="5400000"/>
                <a:lnTo>
                  <a:pt x="0" y="0"/>
                </a:lnTo>
                <a:close/>
              </a:path>
            </a:pathLst>
          </a:custGeom>
          <a:solidFill>
            <a:srgbClr val="DADBF1"/>
          </a:solidFill>
          <a:ln/>
        </p:spPr>
      </p:sp>
      <p:sp>
        <p:nvSpPr>
          <p:cNvPr id="22" name="Shape 18"/>
          <p:cNvSpPr/>
          <p:nvPr/>
        </p:nvSpPr>
        <p:spPr>
          <a:xfrm>
            <a:off x="5239710" y="5358507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23" name="Text 19"/>
          <p:cNvSpPr/>
          <p:nvPr/>
        </p:nvSpPr>
        <p:spPr>
          <a:xfrm>
            <a:off x="5381391" y="5500191"/>
            <a:ext cx="60007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Inspect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5381391" y="5785346"/>
            <a:ext cx="60007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Examine model state</a:t>
            </a:r>
            <a:endParaRPr lang="en-US" sz="11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0D88E86-7584-E507-A617-5449278367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28833" y="6535758"/>
            <a:ext cx="1463167" cy="2895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701955" cy="143470"/>
          </a:xfrm>
          <a:prstGeom prst="roundRect">
            <a:avLst>
              <a:gd name="adj" fmla="val 22134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718127" y="548083"/>
            <a:ext cx="156787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DESIGN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67825" y="77384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Architecture Overview</a:t>
            </a:r>
            <a:endParaRPr lang="en-US" sz="1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127" y="1189930"/>
            <a:ext cx="9753356" cy="5486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217487" y="6990457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Infrastructure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217487" y="7185323"/>
            <a:ext cx="592866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 / Docker (future) · Local persistence (MVP)</a:t>
            </a:r>
            <a:endParaRPr lang="en-US" sz="7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A4E5A36-EED1-F784-768F-7F4617542E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8833" y="6535758"/>
            <a:ext cx="1463167" cy="2895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43347"/>
            <a:ext cx="1998513" cy="287139"/>
          </a:xfrm>
          <a:prstGeom prst="roundRect">
            <a:avLst>
              <a:gd name="adj" fmla="val 22118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800001"/>
            <a:ext cx="238129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REQUIREMENTS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10609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Technology Stack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169220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Software Requirements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2653506"/>
            <a:ext cx="5203794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Windows / Linux / macOS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Node.js · Python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 / GitHub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61475" y="425043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Deployment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61475" y="4734719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Vercel · Render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332776" y="2169220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Technologies</a:t>
            </a:r>
            <a:endParaRPr lang="en-US" sz="18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2776" y="2677120"/>
            <a:ext cx="2507394" cy="15179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648780" y="2891532"/>
            <a:ext cx="197698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Frontend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6648780" y="3375819"/>
            <a:ext cx="197698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Next.js + React + TypeScript</a:t>
            </a:r>
            <a:endParaRPr lang="en-US" sz="14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29176" y="2677120"/>
            <a:ext cx="2507394" cy="15179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345180" y="2891532"/>
            <a:ext cx="197698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Backend</a:t>
            </a:r>
            <a:endParaRPr lang="en-US" sz="1850" dirty="0"/>
          </a:p>
        </p:txBody>
      </p:sp>
      <p:sp>
        <p:nvSpPr>
          <p:cNvPr id="15" name="Text 11"/>
          <p:cNvSpPr/>
          <p:nvPr/>
        </p:nvSpPr>
        <p:spPr>
          <a:xfrm>
            <a:off x="9345180" y="3375819"/>
            <a:ext cx="197698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 + Python</a:t>
            </a:r>
            <a:endParaRPr lang="en-US" sz="145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2776" y="4384080"/>
            <a:ext cx="2507394" cy="15179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48780" y="4598491"/>
            <a:ext cx="197698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ML Engine</a:t>
            </a:r>
            <a:endParaRPr lang="en-US" sz="1850" dirty="0"/>
          </a:p>
        </p:txBody>
      </p:sp>
      <p:sp>
        <p:nvSpPr>
          <p:cNvPr id="18" name="Text 13"/>
          <p:cNvSpPr/>
          <p:nvPr/>
        </p:nvSpPr>
        <p:spPr>
          <a:xfrm>
            <a:off x="6648780" y="5082778"/>
            <a:ext cx="197698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NumPy</a:t>
            </a:r>
            <a:endParaRPr lang="en-US" sz="145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29176" y="4384080"/>
            <a:ext cx="2507394" cy="15179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345180" y="4598491"/>
            <a:ext cx="197698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Visualization</a:t>
            </a:r>
            <a:endParaRPr lang="en-US" sz="1850" dirty="0"/>
          </a:p>
        </p:txBody>
      </p:sp>
      <p:sp>
        <p:nvSpPr>
          <p:cNvPr id="21" name="Text 15"/>
          <p:cNvSpPr/>
          <p:nvPr/>
        </p:nvSpPr>
        <p:spPr>
          <a:xfrm>
            <a:off x="9345180" y="5082778"/>
            <a:ext cx="197698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SVG / Interactive Charts</a:t>
            </a:r>
            <a:endParaRPr lang="en-US" sz="14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8AF035A-B0F6-04F0-9FA6-D330A50FBE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8833" y="6535758"/>
            <a:ext cx="1463167" cy="2895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2387"/>
            <a:ext cx="1760890" cy="264616"/>
          </a:xfrm>
          <a:prstGeom prst="roundRect">
            <a:avLst>
              <a:gd name="adj" fmla="val 22126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765950" y="574576"/>
            <a:ext cx="2161526" cy="160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IMPLEMENTED SYSTEM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851198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b="1" kern="0" spc="-10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We Have Built</a:t>
            </a:r>
            <a:endParaRPr lang="en-US" sz="3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36613"/>
            <a:ext cx="1488641" cy="9200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2757388"/>
            <a:ext cx="2566626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5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Linear Regression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61475" y="3125887"/>
            <a:ext cx="2566626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Gradient descent, loss visualization, parameter inspection</a:t>
            </a:r>
            <a:endParaRPr lang="en-US" sz="13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8815" y="1636613"/>
            <a:ext cx="1488641" cy="92005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28815" y="2757388"/>
            <a:ext cx="2566626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5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Logistic Regression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3428815" y="3125887"/>
            <a:ext cx="2566626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Sigmoid function, decision boundary, probability output</a:t>
            </a:r>
            <a:endParaRPr lang="en-US" sz="13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6155" y="1636613"/>
            <a:ext cx="1488641" cy="92005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96155" y="2757388"/>
            <a:ext cx="2566626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5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K-Means Clustering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6196155" y="3125887"/>
            <a:ext cx="2566626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Centroid movement, cluster assignment, iteration tracking</a:t>
            </a:r>
            <a:endParaRPr lang="en-US" sz="13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3495" y="1636613"/>
            <a:ext cx="1488641" cy="92005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963495" y="2757388"/>
            <a:ext cx="2566725" cy="54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5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Neural Network + Backprop</a:t>
            </a:r>
            <a:endParaRPr lang="en-US" sz="1700" dirty="0"/>
          </a:p>
        </p:txBody>
      </p:sp>
      <p:sp>
        <p:nvSpPr>
          <p:cNvPr id="16" name="Text 10"/>
          <p:cNvSpPr/>
          <p:nvPr/>
        </p:nvSpPr>
        <p:spPr>
          <a:xfrm>
            <a:off x="8963495" y="3398044"/>
            <a:ext cx="2566725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Layer-wise gradients, weight updates, activation visualization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661475" y="4114304"/>
            <a:ext cx="5354007" cy="633313"/>
          </a:xfrm>
          <a:prstGeom prst="roundRect">
            <a:avLst>
              <a:gd name="adj" fmla="val 11556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842048" y="4294882"/>
            <a:ext cx="4992860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5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Training Timeline</a:t>
            </a:r>
            <a:endParaRPr lang="en-US" sz="1700" dirty="0"/>
          </a:p>
        </p:txBody>
      </p:sp>
      <p:sp>
        <p:nvSpPr>
          <p:cNvPr id="19" name="Shape 13"/>
          <p:cNvSpPr/>
          <p:nvPr/>
        </p:nvSpPr>
        <p:spPr>
          <a:xfrm>
            <a:off x="6176113" y="4114304"/>
            <a:ext cx="5354107" cy="633313"/>
          </a:xfrm>
          <a:prstGeom prst="roundRect">
            <a:avLst>
              <a:gd name="adj" fmla="val 11556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6356687" y="4294882"/>
            <a:ext cx="4992959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5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 X-Ray</a:t>
            </a:r>
            <a:endParaRPr lang="en-US" sz="1700" dirty="0"/>
          </a:p>
        </p:txBody>
      </p:sp>
      <p:sp>
        <p:nvSpPr>
          <p:cNvPr id="21" name="Shape 15"/>
          <p:cNvSpPr/>
          <p:nvPr/>
        </p:nvSpPr>
        <p:spPr>
          <a:xfrm>
            <a:off x="661475" y="4908252"/>
            <a:ext cx="5354007" cy="633313"/>
          </a:xfrm>
          <a:prstGeom prst="roundRect">
            <a:avLst>
              <a:gd name="adj" fmla="val 11556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842048" y="5088830"/>
            <a:ext cx="4992860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5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Experiment Explorer</a:t>
            </a:r>
            <a:endParaRPr lang="en-US" sz="1700" dirty="0"/>
          </a:p>
        </p:txBody>
      </p:sp>
      <p:sp>
        <p:nvSpPr>
          <p:cNvPr id="23" name="Shape 17"/>
          <p:cNvSpPr/>
          <p:nvPr/>
        </p:nvSpPr>
        <p:spPr>
          <a:xfrm>
            <a:off x="6176113" y="4908252"/>
            <a:ext cx="5354107" cy="633313"/>
          </a:xfrm>
          <a:prstGeom prst="roundRect">
            <a:avLst>
              <a:gd name="adj" fmla="val 11556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6356687" y="5088830"/>
            <a:ext cx="4992959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5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Science Workbench</a:t>
            </a:r>
            <a:endParaRPr lang="en-US" sz="1700" dirty="0"/>
          </a:p>
        </p:txBody>
      </p:sp>
      <p:sp>
        <p:nvSpPr>
          <p:cNvPr id="25" name="Shape 19"/>
          <p:cNvSpPr/>
          <p:nvPr/>
        </p:nvSpPr>
        <p:spPr>
          <a:xfrm>
            <a:off x="661475" y="5702201"/>
            <a:ext cx="5354007" cy="633313"/>
          </a:xfrm>
          <a:prstGeom prst="roundRect">
            <a:avLst>
              <a:gd name="adj" fmla="val 11556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842048" y="5882779"/>
            <a:ext cx="4992860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5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Tutor</a:t>
            </a:r>
            <a:endParaRPr lang="en-US" sz="1700" dirty="0"/>
          </a:p>
        </p:txBody>
      </p:sp>
      <p:sp>
        <p:nvSpPr>
          <p:cNvPr id="27" name="Shape 21"/>
          <p:cNvSpPr/>
          <p:nvPr/>
        </p:nvSpPr>
        <p:spPr>
          <a:xfrm>
            <a:off x="6176113" y="5702201"/>
            <a:ext cx="5354107" cy="633313"/>
          </a:xfrm>
          <a:prstGeom prst="roundRect">
            <a:avLst>
              <a:gd name="adj" fmla="val 11556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6356687" y="5882779"/>
            <a:ext cx="4992959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5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Studio</a:t>
            </a:r>
            <a:endParaRPr lang="en-US" sz="17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FC7F2E91-291B-8FE6-8D62-26D472A921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28833" y="6535758"/>
            <a:ext cx="1463167" cy="2895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45208"/>
            <a:ext cx="10868745" cy="1332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661475" y="296118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 You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661475" y="3835301"/>
            <a:ext cx="10868745" cy="184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1650"/>
              </a:spcAft>
              <a:buNone/>
            </a:pPr>
            <a:endParaRPr lang="en-US" sz="1450" dirty="0"/>
          </a:p>
          <a:p>
            <a:pPr marL="0" indent="0" algn="ctr">
              <a:lnSpc>
                <a:spcPct val="133000"/>
              </a:lnSpc>
              <a:spcAft>
                <a:spcPts val="1650"/>
              </a:spcAft>
              <a:buNone/>
            </a:pPr>
            <a:endParaRPr lang="en-US" sz="1450" dirty="0"/>
          </a:p>
          <a:p>
            <a:pPr marL="0" indent="0" algn="ctr">
              <a:lnSpc>
                <a:spcPct val="133000"/>
              </a:lnSpc>
              <a:spcAft>
                <a:spcPts val="1650"/>
              </a:spcAft>
              <a:buNone/>
            </a:pPr>
            <a:endParaRPr lang="en-US" sz="14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C7BFFD-43AC-381B-9BEB-C7B3C3E7BE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8833" y="6535758"/>
            <a:ext cx="1463167" cy="2895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553</Words>
  <Application>Microsoft Office PowerPoint</Application>
  <PresentationFormat>Widescreen</PresentationFormat>
  <Paragraphs>150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Inter</vt:lpstr>
      <vt:lpstr>Inter Bold</vt:lpstr>
      <vt:lpstr>Noto Color Emoji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Rahul Panchal</cp:lastModifiedBy>
  <cp:revision>2</cp:revision>
  <dcterms:created xsi:type="dcterms:W3CDTF">2026-09-22T16:57:27Z</dcterms:created>
  <dcterms:modified xsi:type="dcterms:W3CDTF">2026-09-22T17:00:35Z</dcterms:modified>
</cp:coreProperties>
</file>